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63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2F3482-49F3-4117-9B74-5A517BBF5C48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3DA91F-C741-4E74-A191-3A68D2DFC4C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This project analyzes Superstore sales data using Excel.</a:t>
          </a:r>
        </a:p>
      </dgm:t>
    </dgm:pt>
    <dgm:pt modelId="{7BE2E047-10FB-4F86-8E04-4997DF646105}" type="parTrans" cxnId="{FB625F6D-8128-4C17-8FF6-6EBC5F737C73}">
      <dgm:prSet/>
      <dgm:spPr/>
      <dgm:t>
        <a:bodyPr/>
        <a:lstStyle/>
        <a:p>
          <a:endParaRPr lang="en-US"/>
        </a:p>
      </dgm:t>
    </dgm:pt>
    <dgm:pt modelId="{2B494101-4C8F-4AF8-8A7A-E05EE5010CC4}" type="sibTrans" cxnId="{FB625F6D-8128-4C17-8FF6-6EBC5F737C73}">
      <dgm:prSet/>
      <dgm:spPr/>
      <dgm:t>
        <a:bodyPr/>
        <a:lstStyle/>
        <a:p>
          <a:endParaRPr lang="en-US"/>
        </a:p>
      </dgm:t>
    </dgm:pt>
    <dgm:pt modelId="{A18AA054-2D55-4399-9279-B7BF32E432A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The dashboard provides insights into sales, profit, and performance trends.</a:t>
          </a:r>
        </a:p>
      </dgm:t>
    </dgm:pt>
    <dgm:pt modelId="{D6789F75-0F92-4593-9BB4-EA6439FF4BE1}" type="parTrans" cxnId="{89FF9E4B-A5A6-415D-B5E1-ED735BB18F2E}">
      <dgm:prSet/>
      <dgm:spPr/>
      <dgm:t>
        <a:bodyPr/>
        <a:lstStyle/>
        <a:p>
          <a:endParaRPr lang="en-US"/>
        </a:p>
      </dgm:t>
    </dgm:pt>
    <dgm:pt modelId="{02437368-A9A3-4B67-ABFD-3065D52368D4}" type="sibTrans" cxnId="{89FF9E4B-A5A6-415D-B5E1-ED735BB18F2E}">
      <dgm:prSet/>
      <dgm:spPr/>
      <dgm:t>
        <a:bodyPr/>
        <a:lstStyle/>
        <a:p>
          <a:endParaRPr lang="en-US"/>
        </a:p>
      </dgm:t>
    </dgm:pt>
    <dgm:pt modelId="{A5387AC7-6CAC-45AE-91FB-928CAEA32EC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It helps management make data-driven business decisions.</a:t>
          </a:r>
        </a:p>
      </dgm:t>
    </dgm:pt>
    <dgm:pt modelId="{807316F2-79E3-4A41-8DC7-DCF0F6C9C641}" type="parTrans" cxnId="{9A4CF7A9-3572-4168-AA0B-70628EA7888E}">
      <dgm:prSet/>
      <dgm:spPr/>
      <dgm:t>
        <a:bodyPr/>
        <a:lstStyle/>
        <a:p>
          <a:endParaRPr lang="en-US"/>
        </a:p>
      </dgm:t>
    </dgm:pt>
    <dgm:pt modelId="{B49D7019-16C3-4A64-B2CE-EACB730A8E87}" type="sibTrans" cxnId="{9A4CF7A9-3572-4168-AA0B-70628EA7888E}">
      <dgm:prSet/>
      <dgm:spPr/>
      <dgm:t>
        <a:bodyPr/>
        <a:lstStyle/>
        <a:p>
          <a:endParaRPr lang="en-US"/>
        </a:p>
      </dgm:t>
    </dgm:pt>
    <dgm:pt modelId="{C0B69457-2E08-4AD2-AB86-7864787423FA}" type="pres">
      <dgm:prSet presAssocID="{5C2F3482-49F3-4117-9B74-5A517BBF5C48}" presName="root" presStyleCnt="0">
        <dgm:presLayoutVars>
          <dgm:dir/>
          <dgm:resizeHandles val="exact"/>
        </dgm:presLayoutVars>
      </dgm:prSet>
      <dgm:spPr/>
    </dgm:pt>
    <dgm:pt modelId="{0F03AB58-2443-4C1E-AB58-5200E3044BFD}" type="pres">
      <dgm:prSet presAssocID="{B43DA91F-C741-4E74-A191-3A68D2DFC4CC}" presName="compNode" presStyleCnt="0"/>
      <dgm:spPr/>
    </dgm:pt>
    <dgm:pt modelId="{2E5078BF-05F4-423F-B40C-3DCBF3A3FA2A}" type="pres">
      <dgm:prSet presAssocID="{B43DA91F-C741-4E74-A191-3A68D2DFC4CC}" presName="iconBgRect" presStyleLbl="bgShp" presStyleIdx="0" presStyleCnt="3"/>
      <dgm:spPr/>
    </dgm:pt>
    <dgm:pt modelId="{E8B4C3CA-71DF-482A-8E9D-A626E35B391B}" type="pres">
      <dgm:prSet presAssocID="{B43DA91F-C741-4E74-A191-3A68D2DFC4C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E81D2EA2-E6CE-4E2F-BDC3-D4A389B92136}" type="pres">
      <dgm:prSet presAssocID="{B43DA91F-C741-4E74-A191-3A68D2DFC4CC}" presName="spaceRect" presStyleCnt="0"/>
      <dgm:spPr/>
    </dgm:pt>
    <dgm:pt modelId="{50E3081F-4EE3-43EF-BECD-B8EA90D0DC5A}" type="pres">
      <dgm:prSet presAssocID="{B43DA91F-C741-4E74-A191-3A68D2DFC4CC}" presName="textRect" presStyleLbl="revTx" presStyleIdx="0" presStyleCnt="3">
        <dgm:presLayoutVars>
          <dgm:chMax val="1"/>
          <dgm:chPref val="1"/>
        </dgm:presLayoutVars>
      </dgm:prSet>
      <dgm:spPr/>
    </dgm:pt>
    <dgm:pt modelId="{BB8F4222-6187-4E19-A26D-A8BF7B9B7EEE}" type="pres">
      <dgm:prSet presAssocID="{2B494101-4C8F-4AF8-8A7A-E05EE5010CC4}" presName="sibTrans" presStyleCnt="0"/>
      <dgm:spPr/>
    </dgm:pt>
    <dgm:pt modelId="{E27753ED-5643-4E53-B476-B344E2CA676F}" type="pres">
      <dgm:prSet presAssocID="{A18AA054-2D55-4399-9279-B7BF32E432A6}" presName="compNode" presStyleCnt="0"/>
      <dgm:spPr/>
    </dgm:pt>
    <dgm:pt modelId="{B47979C1-5185-447F-B8F7-2286531EE46A}" type="pres">
      <dgm:prSet presAssocID="{A18AA054-2D55-4399-9279-B7BF32E432A6}" presName="iconBgRect" presStyleLbl="bgShp" presStyleIdx="1" presStyleCnt="3"/>
      <dgm:spPr/>
    </dgm:pt>
    <dgm:pt modelId="{96217FF4-2D7C-4FD2-B913-9CFD314B83A9}" type="pres">
      <dgm:prSet presAssocID="{A18AA054-2D55-4399-9279-B7BF32E432A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21FD4E08-51DF-43D3-B1EF-4BFC0BAB86A7}" type="pres">
      <dgm:prSet presAssocID="{A18AA054-2D55-4399-9279-B7BF32E432A6}" presName="spaceRect" presStyleCnt="0"/>
      <dgm:spPr/>
    </dgm:pt>
    <dgm:pt modelId="{4C4F0A71-E5E3-4FC4-8CA2-F9B3D4FF613F}" type="pres">
      <dgm:prSet presAssocID="{A18AA054-2D55-4399-9279-B7BF32E432A6}" presName="textRect" presStyleLbl="revTx" presStyleIdx="1" presStyleCnt="3">
        <dgm:presLayoutVars>
          <dgm:chMax val="1"/>
          <dgm:chPref val="1"/>
        </dgm:presLayoutVars>
      </dgm:prSet>
      <dgm:spPr/>
    </dgm:pt>
    <dgm:pt modelId="{0C9D4233-2628-4DB8-B6ED-CAF1B327ADC2}" type="pres">
      <dgm:prSet presAssocID="{02437368-A9A3-4B67-ABFD-3065D52368D4}" presName="sibTrans" presStyleCnt="0"/>
      <dgm:spPr/>
    </dgm:pt>
    <dgm:pt modelId="{0F876F10-42C9-456E-BAF7-BB33B862AE6C}" type="pres">
      <dgm:prSet presAssocID="{A5387AC7-6CAC-45AE-91FB-928CAEA32ECC}" presName="compNode" presStyleCnt="0"/>
      <dgm:spPr/>
    </dgm:pt>
    <dgm:pt modelId="{E3C5D679-1EF6-4012-9F1A-D0A917F2D716}" type="pres">
      <dgm:prSet presAssocID="{A5387AC7-6CAC-45AE-91FB-928CAEA32ECC}" presName="iconBgRect" presStyleLbl="bgShp" presStyleIdx="2" presStyleCnt="3"/>
      <dgm:spPr/>
    </dgm:pt>
    <dgm:pt modelId="{AD4E5CF8-1D4F-4A46-91C7-6224862551EE}" type="pres">
      <dgm:prSet presAssocID="{A5387AC7-6CAC-45AE-91FB-928CAEA32EC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F8A9B4A9-8048-43DC-AC06-7CABBBA4F2AB}" type="pres">
      <dgm:prSet presAssocID="{A5387AC7-6CAC-45AE-91FB-928CAEA32ECC}" presName="spaceRect" presStyleCnt="0"/>
      <dgm:spPr/>
    </dgm:pt>
    <dgm:pt modelId="{D6921431-A631-4621-89AB-859454D2FDDC}" type="pres">
      <dgm:prSet presAssocID="{A5387AC7-6CAC-45AE-91FB-928CAEA32EC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84A5312-F33A-4530-8018-D2EE66244198}" type="presOf" srcId="{B43DA91F-C741-4E74-A191-3A68D2DFC4CC}" destId="{50E3081F-4EE3-43EF-BECD-B8EA90D0DC5A}" srcOrd="0" destOrd="0" presId="urn:microsoft.com/office/officeart/2018/5/layout/IconCircleLabelList"/>
    <dgm:cxn modelId="{48519227-663E-4289-90AE-81AADDE5307A}" type="presOf" srcId="{A5387AC7-6CAC-45AE-91FB-928CAEA32ECC}" destId="{D6921431-A631-4621-89AB-859454D2FDDC}" srcOrd="0" destOrd="0" presId="urn:microsoft.com/office/officeart/2018/5/layout/IconCircleLabelList"/>
    <dgm:cxn modelId="{89FF9E4B-A5A6-415D-B5E1-ED735BB18F2E}" srcId="{5C2F3482-49F3-4117-9B74-5A517BBF5C48}" destId="{A18AA054-2D55-4399-9279-B7BF32E432A6}" srcOrd="1" destOrd="0" parTransId="{D6789F75-0F92-4593-9BB4-EA6439FF4BE1}" sibTransId="{02437368-A9A3-4B67-ABFD-3065D52368D4}"/>
    <dgm:cxn modelId="{FB625F6D-8128-4C17-8FF6-6EBC5F737C73}" srcId="{5C2F3482-49F3-4117-9B74-5A517BBF5C48}" destId="{B43DA91F-C741-4E74-A191-3A68D2DFC4CC}" srcOrd="0" destOrd="0" parTransId="{7BE2E047-10FB-4F86-8E04-4997DF646105}" sibTransId="{2B494101-4C8F-4AF8-8A7A-E05EE5010CC4}"/>
    <dgm:cxn modelId="{CB2D31A0-BD2D-40D3-885F-65A7651B43C1}" type="presOf" srcId="{A18AA054-2D55-4399-9279-B7BF32E432A6}" destId="{4C4F0A71-E5E3-4FC4-8CA2-F9B3D4FF613F}" srcOrd="0" destOrd="0" presId="urn:microsoft.com/office/officeart/2018/5/layout/IconCircleLabelList"/>
    <dgm:cxn modelId="{9A4CF7A9-3572-4168-AA0B-70628EA7888E}" srcId="{5C2F3482-49F3-4117-9B74-5A517BBF5C48}" destId="{A5387AC7-6CAC-45AE-91FB-928CAEA32ECC}" srcOrd="2" destOrd="0" parTransId="{807316F2-79E3-4A41-8DC7-DCF0F6C9C641}" sibTransId="{B49D7019-16C3-4A64-B2CE-EACB730A8E87}"/>
    <dgm:cxn modelId="{D3CC6AF0-D6DD-4FF2-8AB3-F322586AC77A}" type="presOf" srcId="{5C2F3482-49F3-4117-9B74-5A517BBF5C48}" destId="{C0B69457-2E08-4AD2-AB86-7864787423FA}" srcOrd="0" destOrd="0" presId="urn:microsoft.com/office/officeart/2018/5/layout/IconCircleLabelList"/>
    <dgm:cxn modelId="{F2C29BA7-A301-49F9-AFEE-FBCCD6A12096}" type="presParOf" srcId="{C0B69457-2E08-4AD2-AB86-7864787423FA}" destId="{0F03AB58-2443-4C1E-AB58-5200E3044BFD}" srcOrd="0" destOrd="0" presId="urn:microsoft.com/office/officeart/2018/5/layout/IconCircleLabelList"/>
    <dgm:cxn modelId="{19B32563-F031-4624-BB13-3F3AACD4055E}" type="presParOf" srcId="{0F03AB58-2443-4C1E-AB58-5200E3044BFD}" destId="{2E5078BF-05F4-423F-B40C-3DCBF3A3FA2A}" srcOrd="0" destOrd="0" presId="urn:microsoft.com/office/officeart/2018/5/layout/IconCircleLabelList"/>
    <dgm:cxn modelId="{984C1544-6C53-41D1-8F2F-A89823A5878E}" type="presParOf" srcId="{0F03AB58-2443-4C1E-AB58-5200E3044BFD}" destId="{E8B4C3CA-71DF-482A-8E9D-A626E35B391B}" srcOrd="1" destOrd="0" presId="urn:microsoft.com/office/officeart/2018/5/layout/IconCircleLabelList"/>
    <dgm:cxn modelId="{A2F5DC79-752A-42B9-B723-F68359A9F207}" type="presParOf" srcId="{0F03AB58-2443-4C1E-AB58-5200E3044BFD}" destId="{E81D2EA2-E6CE-4E2F-BDC3-D4A389B92136}" srcOrd="2" destOrd="0" presId="urn:microsoft.com/office/officeart/2018/5/layout/IconCircleLabelList"/>
    <dgm:cxn modelId="{82A7612D-E086-43D0-9595-ADDA51D99EE9}" type="presParOf" srcId="{0F03AB58-2443-4C1E-AB58-5200E3044BFD}" destId="{50E3081F-4EE3-43EF-BECD-B8EA90D0DC5A}" srcOrd="3" destOrd="0" presId="urn:microsoft.com/office/officeart/2018/5/layout/IconCircleLabelList"/>
    <dgm:cxn modelId="{4A439F8E-B8CB-4BF7-9761-50E4A69D7E76}" type="presParOf" srcId="{C0B69457-2E08-4AD2-AB86-7864787423FA}" destId="{BB8F4222-6187-4E19-A26D-A8BF7B9B7EEE}" srcOrd="1" destOrd="0" presId="urn:microsoft.com/office/officeart/2018/5/layout/IconCircleLabelList"/>
    <dgm:cxn modelId="{4F859CA2-BFED-4B5D-9A4D-4A6EA17DE756}" type="presParOf" srcId="{C0B69457-2E08-4AD2-AB86-7864787423FA}" destId="{E27753ED-5643-4E53-B476-B344E2CA676F}" srcOrd="2" destOrd="0" presId="urn:microsoft.com/office/officeart/2018/5/layout/IconCircleLabelList"/>
    <dgm:cxn modelId="{1286397D-A91C-44C5-9FB2-7A7D213026A7}" type="presParOf" srcId="{E27753ED-5643-4E53-B476-B344E2CA676F}" destId="{B47979C1-5185-447F-B8F7-2286531EE46A}" srcOrd="0" destOrd="0" presId="urn:microsoft.com/office/officeart/2018/5/layout/IconCircleLabelList"/>
    <dgm:cxn modelId="{0E1EFF9C-D7CC-45A0-BC73-2D25D1C31272}" type="presParOf" srcId="{E27753ED-5643-4E53-B476-B344E2CA676F}" destId="{96217FF4-2D7C-4FD2-B913-9CFD314B83A9}" srcOrd="1" destOrd="0" presId="urn:microsoft.com/office/officeart/2018/5/layout/IconCircleLabelList"/>
    <dgm:cxn modelId="{519EB19A-D51F-49C0-8265-8D457C48A8F7}" type="presParOf" srcId="{E27753ED-5643-4E53-B476-B344E2CA676F}" destId="{21FD4E08-51DF-43D3-B1EF-4BFC0BAB86A7}" srcOrd="2" destOrd="0" presId="urn:microsoft.com/office/officeart/2018/5/layout/IconCircleLabelList"/>
    <dgm:cxn modelId="{0CF1AB29-AEEC-4642-A9C8-643DED7D86DE}" type="presParOf" srcId="{E27753ED-5643-4E53-B476-B344E2CA676F}" destId="{4C4F0A71-E5E3-4FC4-8CA2-F9B3D4FF613F}" srcOrd="3" destOrd="0" presId="urn:microsoft.com/office/officeart/2018/5/layout/IconCircleLabelList"/>
    <dgm:cxn modelId="{D4CE9664-F415-435E-8CAA-BC155A24B7A5}" type="presParOf" srcId="{C0B69457-2E08-4AD2-AB86-7864787423FA}" destId="{0C9D4233-2628-4DB8-B6ED-CAF1B327ADC2}" srcOrd="3" destOrd="0" presId="urn:microsoft.com/office/officeart/2018/5/layout/IconCircleLabelList"/>
    <dgm:cxn modelId="{086420B1-FBC9-43C5-B9E5-9997B6AFE742}" type="presParOf" srcId="{C0B69457-2E08-4AD2-AB86-7864787423FA}" destId="{0F876F10-42C9-456E-BAF7-BB33B862AE6C}" srcOrd="4" destOrd="0" presId="urn:microsoft.com/office/officeart/2018/5/layout/IconCircleLabelList"/>
    <dgm:cxn modelId="{6639ACC9-DF37-4395-A7DE-7C96278C9B81}" type="presParOf" srcId="{0F876F10-42C9-456E-BAF7-BB33B862AE6C}" destId="{E3C5D679-1EF6-4012-9F1A-D0A917F2D716}" srcOrd="0" destOrd="0" presId="urn:microsoft.com/office/officeart/2018/5/layout/IconCircleLabelList"/>
    <dgm:cxn modelId="{3B706246-59D2-48E8-9DDB-B75B540E7A75}" type="presParOf" srcId="{0F876F10-42C9-456E-BAF7-BB33B862AE6C}" destId="{AD4E5CF8-1D4F-4A46-91C7-6224862551EE}" srcOrd="1" destOrd="0" presId="urn:microsoft.com/office/officeart/2018/5/layout/IconCircleLabelList"/>
    <dgm:cxn modelId="{E931F020-EFAB-4854-90E9-D222E91D34DC}" type="presParOf" srcId="{0F876F10-42C9-456E-BAF7-BB33B862AE6C}" destId="{F8A9B4A9-8048-43DC-AC06-7CABBBA4F2AB}" srcOrd="2" destOrd="0" presId="urn:microsoft.com/office/officeart/2018/5/layout/IconCircleLabelList"/>
    <dgm:cxn modelId="{68AE200B-345E-4FF0-B585-1093809BB245}" type="presParOf" srcId="{0F876F10-42C9-456E-BAF7-BB33B862AE6C}" destId="{D6921431-A631-4621-89AB-859454D2FDD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5078BF-05F4-423F-B40C-3DCBF3A3FA2A}">
      <dsp:nvSpPr>
        <dsp:cNvPr id="0" name=""/>
        <dsp:cNvSpPr/>
      </dsp:nvSpPr>
      <dsp:spPr>
        <a:xfrm>
          <a:off x="468981" y="565350"/>
          <a:ext cx="1406812" cy="14068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B4C3CA-71DF-482A-8E9D-A626E35B391B}">
      <dsp:nvSpPr>
        <dsp:cNvPr id="0" name=""/>
        <dsp:cNvSpPr/>
      </dsp:nvSpPr>
      <dsp:spPr>
        <a:xfrm>
          <a:off x="768793" y="865162"/>
          <a:ext cx="807187" cy="807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E3081F-4EE3-43EF-BECD-B8EA90D0DC5A}">
      <dsp:nvSpPr>
        <dsp:cNvPr id="0" name=""/>
        <dsp:cNvSpPr/>
      </dsp:nvSpPr>
      <dsp:spPr>
        <a:xfrm>
          <a:off x="19262" y="2410350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This project analyzes Superstore sales data using Excel.</a:t>
          </a:r>
        </a:p>
      </dsp:txBody>
      <dsp:txXfrm>
        <a:off x="19262" y="2410350"/>
        <a:ext cx="2306250" cy="720000"/>
      </dsp:txXfrm>
    </dsp:sp>
    <dsp:sp modelId="{B47979C1-5185-447F-B8F7-2286531EE46A}">
      <dsp:nvSpPr>
        <dsp:cNvPr id="0" name=""/>
        <dsp:cNvSpPr/>
      </dsp:nvSpPr>
      <dsp:spPr>
        <a:xfrm>
          <a:off x="3178825" y="565350"/>
          <a:ext cx="1406812" cy="14068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217FF4-2D7C-4FD2-B913-9CFD314B83A9}">
      <dsp:nvSpPr>
        <dsp:cNvPr id="0" name=""/>
        <dsp:cNvSpPr/>
      </dsp:nvSpPr>
      <dsp:spPr>
        <a:xfrm>
          <a:off x="3478637" y="865162"/>
          <a:ext cx="807187" cy="807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4F0A71-E5E3-4FC4-8CA2-F9B3D4FF613F}">
      <dsp:nvSpPr>
        <dsp:cNvPr id="0" name=""/>
        <dsp:cNvSpPr/>
      </dsp:nvSpPr>
      <dsp:spPr>
        <a:xfrm>
          <a:off x="2729106" y="2410350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The dashboard provides insights into sales, profit, and performance trends.</a:t>
          </a:r>
        </a:p>
      </dsp:txBody>
      <dsp:txXfrm>
        <a:off x="2729106" y="2410350"/>
        <a:ext cx="2306250" cy="720000"/>
      </dsp:txXfrm>
    </dsp:sp>
    <dsp:sp modelId="{E3C5D679-1EF6-4012-9F1A-D0A917F2D716}">
      <dsp:nvSpPr>
        <dsp:cNvPr id="0" name=""/>
        <dsp:cNvSpPr/>
      </dsp:nvSpPr>
      <dsp:spPr>
        <a:xfrm>
          <a:off x="5888669" y="565350"/>
          <a:ext cx="1406812" cy="14068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4E5CF8-1D4F-4A46-91C7-6224862551EE}">
      <dsp:nvSpPr>
        <dsp:cNvPr id="0" name=""/>
        <dsp:cNvSpPr/>
      </dsp:nvSpPr>
      <dsp:spPr>
        <a:xfrm>
          <a:off x="6188481" y="865162"/>
          <a:ext cx="807187" cy="807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921431-A631-4621-89AB-859454D2FDDC}">
      <dsp:nvSpPr>
        <dsp:cNvPr id="0" name=""/>
        <dsp:cNvSpPr/>
      </dsp:nvSpPr>
      <dsp:spPr>
        <a:xfrm>
          <a:off x="5438950" y="2410350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It helps management make data-driven business decisions.</a:t>
          </a:r>
        </a:p>
      </dsp:txBody>
      <dsp:txXfrm>
        <a:off x="5438950" y="2410350"/>
        <a:ext cx="23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666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270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661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854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419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376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263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969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86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23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346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0265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535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947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2472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362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00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929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2A045-7F63-9493-4942-8A7EDB7D4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57227"/>
            <a:ext cx="9143999" cy="3260498"/>
          </a:xfrm>
        </p:spPr>
        <p:txBody>
          <a:bodyPr>
            <a:normAutofit/>
          </a:bodyPr>
          <a:lstStyle/>
          <a:p>
            <a:r>
              <a:rPr dirty="0"/>
              <a:t>OLIST</a:t>
            </a:r>
            <a:r>
              <a:rPr lang="en-US" dirty="0"/>
              <a:t> </a:t>
            </a:r>
            <a:r>
              <a:rPr dirty="0"/>
              <a:t>SALES DASHBOARD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B36D7-0E44-9E04-D176-B6B82C1D2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07581" y="3917725"/>
            <a:ext cx="2528838" cy="1187675"/>
          </a:xfrm>
        </p:spPr>
        <p:txBody>
          <a:bodyPr/>
          <a:lstStyle/>
          <a:p>
            <a:r>
              <a:t>NIHA RAHIM</a:t>
            </a:r>
          </a:p>
          <a:p>
            <a:r>
              <a:t>Data Analytics</a:t>
            </a:r>
          </a:p>
        </p:txBody>
      </p:sp>
    </p:spTree>
    <p:extLst>
      <p:ext uri="{BB962C8B-B14F-4D97-AF65-F5344CB8AC3E}">
        <p14:creationId xmlns:p14="http://schemas.microsoft.com/office/powerpoint/2010/main" val="730495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73E6A3-7CBC-28BF-FA6E-BB3E7809D47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0" y="2095500"/>
          <a:ext cx="7764463" cy="3695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  <a:endParaRPr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buChar char="•"/>
              <a:defRPr sz="2300">
                <a:solidFill>
                  <a:srgbClr val="FFFFFF"/>
                </a:solidFill>
                <a:latin typeface="Aptos"/>
              </a:defRPr>
            </a:pPr>
            <a:r>
              <a:t>The dataset includes order_id, customer_id, order_status, customer_state, order purchase date, product category, item total value, and delivery status.</a:t>
            </a:r>
          </a:p>
          <a:p>
            <a:pPr>
              <a:buChar char="•"/>
              <a:defRPr sz="2300">
                <a:solidFill>
                  <a:srgbClr val="FFFFFF"/>
                </a:solidFill>
                <a:latin typeface="Aptos"/>
              </a:defRPr>
            </a:pPr>
            <a:r>
              <a:t>Covers customers across Brazilian states and a wide range of product categories.</a:t>
            </a:r>
          </a:p>
          <a:p>
            <a:pPr>
              <a:buChar char="•"/>
              <a:defRPr sz="2300">
                <a:solidFill>
                  <a:srgbClr val="FFFFFF"/>
                </a:solidFill>
                <a:latin typeface="Aptos"/>
              </a:defRPr>
            </a:pPr>
            <a:r>
              <a:t>Used to analyze sales performance, customer distribution, product categories, and delivery outcomes.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 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(KPIs)</a:t>
            </a:r>
          </a:p>
        </p:txBody>
      </p:sp>
      <p:sp>
        <p:nvSpPr>
          <p:cNvPr id="3" name="Oval 2"/>
          <p:cNvSpPr/>
          <p:nvPr/>
        </p:nvSpPr>
        <p:spPr>
          <a:xfrm>
            <a:off x="777240" y="2331720"/>
            <a:ext cx="841248" cy="841248"/>
          </a:xfrm>
          <a:prstGeom prst="ellipse">
            <a:avLst/>
          </a:prstGeom>
          <a:solidFill>
            <a:srgbClr val="E8F1D0"/>
          </a:solidFill>
          <a:ln>
            <a:solidFill>
              <a:srgbClr val="E8F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446CC9"/>
                </a:solidFill>
                <a:latin typeface="DejaVu Sans"/>
              </a:rPr>
              <a:t>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6231" y="2313432"/>
            <a:ext cx="25146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FFFFFF"/>
                </a:solidFill>
                <a:latin typeface="Aptos"/>
              </a:defRPr>
            </a:pPr>
            <a:r>
              <a:t>Total Sales –</a:t>
            </a:r>
          </a:p>
          <a:p>
            <a:pPr>
              <a:defRPr sz="1800">
                <a:solidFill>
                  <a:srgbClr val="FFFFFF"/>
                </a:solidFill>
                <a:latin typeface="Aptos"/>
              </a:defRPr>
            </a:pPr>
            <a:r>
              <a:t>Overall sales generated: ₹15.84M.</a:t>
            </a:r>
          </a:p>
        </p:txBody>
      </p:sp>
      <p:sp>
        <p:nvSpPr>
          <p:cNvPr id="5" name="Oval 4"/>
          <p:cNvSpPr/>
          <p:nvPr/>
        </p:nvSpPr>
        <p:spPr>
          <a:xfrm>
            <a:off x="4480560" y="2331720"/>
            <a:ext cx="841248" cy="841248"/>
          </a:xfrm>
          <a:prstGeom prst="ellipse">
            <a:avLst/>
          </a:prstGeom>
          <a:solidFill>
            <a:srgbClr val="E8F1D0"/>
          </a:solidFill>
          <a:ln>
            <a:solidFill>
              <a:srgbClr val="E8F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rgbClr val="446CC9"/>
                </a:solidFill>
                <a:latin typeface="DejaVu Sans"/>
              </a:rPr>
              <a:t>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9552" y="2313432"/>
            <a:ext cx="25146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FFFFFF"/>
                </a:solidFill>
                <a:latin typeface="Aptos"/>
              </a:defRPr>
            </a:pPr>
            <a:r>
              <a:t>Total Orders –</a:t>
            </a:r>
          </a:p>
          <a:p>
            <a:pPr>
              <a:defRPr sz="1800">
                <a:solidFill>
                  <a:srgbClr val="FFFFFF"/>
                </a:solidFill>
                <a:latin typeface="Aptos"/>
              </a:defRPr>
            </a:pPr>
            <a:r>
              <a:t>Total number of orders: 113.43K.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4251960"/>
            <a:ext cx="841248" cy="841248"/>
          </a:xfrm>
          <a:prstGeom prst="ellipse">
            <a:avLst/>
          </a:prstGeom>
          <a:solidFill>
            <a:srgbClr val="E8F1D0"/>
          </a:solidFill>
          <a:ln>
            <a:solidFill>
              <a:srgbClr val="E8F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rgbClr val="446CC9"/>
                </a:solidFill>
                <a:latin typeface="DejaVu Sans"/>
              </a:rPr>
              <a:t>●●●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6231" y="4233672"/>
            <a:ext cx="25146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FFFFFF"/>
                </a:solidFill>
                <a:latin typeface="Aptos"/>
              </a:defRPr>
            </a:pPr>
            <a:r>
              <a:t>Total Customers –</a:t>
            </a:r>
          </a:p>
          <a:p>
            <a:pPr>
              <a:defRPr sz="1800">
                <a:solidFill>
                  <a:srgbClr val="FFFFFF"/>
                </a:solidFill>
                <a:latin typeface="Aptos"/>
              </a:defRPr>
            </a:pPr>
            <a:r>
              <a:t>Unique customers represented: 99.44K.</a:t>
            </a:r>
          </a:p>
        </p:txBody>
      </p:sp>
      <p:sp>
        <p:nvSpPr>
          <p:cNvPr id="9" name="Oval 8"/>
          <p:cNvSpPr/>
          <p:nvPr/>
        </p:nvSpPr>
        <p:spPr>
          <a:xfrm>
            <a:off x="4480560" y="4251960"/>
            <a:ext cx="841248" cy="841248"/>
          </a:xfrm>
          <a:prstGeom prst="ellipse">
            <a:avLst/>
          </a:prstGeom>
          <a:solidFill>
            <a:srgbClr val="E8F1D0"/>
          </a:solidFill>
          <a:ln>
            <a:solidFill>
              <a:srgbClr val="E8F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446CC9"/>
                </a:solidFill>
                <a:latin typeface="DejaVu Sans"/>
              </a:rPr>
              <a:t>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59552" y="4233672"/>
            <a:ext cx="25146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FFFFFF"/>
                </a:solidFill>
                <a:latin typeface="Aptos"/>
              </a:defRPr>
            </a:pPr>
            <a:r>
              <a:t>Average Order Value –</a:t>
            </a:r>
          </a:p>
          <a:p>
            <a:pPr>
              <a:defRPr sz="1800">
                <a:solidFill>
                  <a:srgbClr val="FFFFFF"/>
                </a:solidFill>
                <a:latin typeface="Aptos"/>
              </a:defRPr>
            </a:pPr>
            <a:r>
              <a:t>Average sales value per order: ₹139.68.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INSIGHTS</a:t>
            </a:r>
            <a:endParaRPr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buChar char="•"/>
              <a:defRPr sz="2200">
                <a:solidFill>
                  <a:srgbClr val="FFFFFF"/>
                </a:solidFill>
                <a:latin typeface="Aptos"/>
              </a:defRPr>
            </a:pPr>
            <a:r>
              <a:t>São Paulo (SP) is the top customer state by sales, contributing about ₹59.2L.</a:t>
            </a:r>
          </a:p>
          <a:p>
            <a:pPr>
              <a:buChar char="•"/>
              <a:defRPr sz="2200">
                <a:solidFill>
                  <a:srgbClr val="FFFFFF"/>
                </a:solidFill>
                <a:latin typeface="Aptos"/>
              </a:defRPr>
            </a:pPr>
            <a:r>
              <a:t>Health &amp; Beauty is the highest-sales product category at about ₹14.4L.</a:t>
            </a:r>
          </a:p>
          <a:p>
            <a:pPr>
              <a:buChar char="•"/>
              <a:defRPr sz="2200">
                <a:solidFill>
                  <a:srgbClr val="FFFFFF"/>
                </a:solidFill>
                <a:latin typeface="Aptos"/>
              </a:defRPr>
            </a:pPr>
            <a:r>
              <a:t>On-time deliveries dominate the delivery mix, while late and not-delivered orders remain smaller shares.</a:t>
            </a:r>
          </a:p>
          <a:p>
            <a:pPr>
              <a:buChar char="•"/>
              <a:defRPr sz="2200">
                <a:solidFill>
                  <a:srgbClr val="FFFFFF"/>
                </a:solidFill>
                <a:latin typeface="Aptos"/>
              </a:defRPr>
            </a:pPr>
            <a:r>
              <a:t>2018 contributes the highest annual sales in the dashboard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buChar char="•"/>
              <a:defRPr sz="2200">
                <a:solidFill>
                  <a:srgbClr val="FFFFFF"/>
                </a:solidFill>
                <a:latin typeface="Aptos"/>
              </a:defRPr>
            </a:pPr>
            <a:r>
              <a:rPr dirty="0"/>
              <a:t>The </a:t>
            </a:r>
            <a:r>
              <a:rPr dirty="0" err="1"/>
              <a:t>Olist</a:t>
            </a:r>
            <a:r>
              <a:rPr dirty="0"/>
              <a:t> sales dashboard provides a clear view of revenue, orders, customers, and delivery performance.</a:t>
            </a:r>
          </a:p>
          <a:p>
            <a:pPr>
              <a:buChar char="•"/>
              <a:defRPr sz="2200">
                <a:solidFill>
                  <a:srgbClr val="FFFFFF"/>
                </a:solidFill>
                <a:latin typeface="Aptos"/>
              </a:defRPr>
            </a:pPr>
            <a:r>
              <a:rPr dirty="0"/>
              <a:t>It highlights top-performing customer states and product categories, while interactive slicers enable focused analysis.</a:t>
            </a:r>
          </a:p>
          <a:p>
            <a:pPr>
              <a:buChar char="•"/>
              <a:defRPr sz="2200">
                <a:solidFill>
                  <a:srgbClr val="FFFFFF"/>
                </a:solidFill>
                <a:latin typeface="Aptos"/>
              </a:defRPr>
            </a:pPr>
            <a:r>
              <a:rPr dirty="0"/>
              <a:t>The dashboard supports data-driven decision-making and helps identify opportunities for improving retail performance.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5FAC62-C63F-1913-6232-BD0608AAC77B}"/>
              </a:ext>
            </a:extLst>
          </p:cNvPr>
          <p:cNvSpPr txBox="1"/>
          <p:nvPr/>
        </p:nvSpPr>
        <p:spPr>
          <a:xfrm>
            <a:off x="1847274" y="2548991"/>
            <a:ext cx="58189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44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117143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24</TotalTime>
  <Words>268</Words>
  <Application>Microsoft Office PowerPoint</Application>
  <PresentationFormat>On-screen Show (4:3)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Bookman Old Style</vt:lpstr>
      <vt:lpstr>DejaVu Sans</vt:lpstr>
      <vt:lpstr>Rockwell</vt:lpstr>
      <vt:lpstr>Times New Roman</vt:lpstr>
      <vt:lpstr>Damask</vt:lpstr>
      <vt:lpstr>OLIST SALES DASHBOARD</vt:lpstr>
      <vt:lpstr>PROJECT OVERVIEW</vt:lpstr>
      <vt:lpstr>DATASET DESCRIPTION</vt:lpstr>
      <vt:lpstr>Key Performance Indicators (KPIs)</vt:lpstr>
      <vt:lpstr>DASHBOARD INSIGHTS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Sheba Elizabeth John</cp:lastModifiedBy>
  <cp:revision>4</cp:revision>
  <dcterms:created xsi:type="dcterms:W3CDTF">2013-01-27T09:14:16Z</dcterms:created>
  <dcterms:modified xsi:type="dcterms:W3CDTF">2026-08-13T13:23:09Z</dcterms:modified>
  <cp:category/>
</cp:coreProperties>
</file>